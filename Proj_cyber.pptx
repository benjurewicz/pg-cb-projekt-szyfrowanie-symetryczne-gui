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308" r:id="rId4"/>
    <p:sldId id="275" r:id="rId5"/>
    <p:sldId id="276" r:id="rId6"/>
    <p:sldId id="265" r:id="rId7"/>
    <p:sldId id="307" r:id="rId8"/>
    <p:sldId id="268" r:id="rId9"/>
    <p:sldId id="271" r:id="rId10"/>
    <p:sldId id="272" r:id="rId11"/>
    <p:sldId id="264" r:id="rId12"/>
    <p:sldId id="284" r:id="rId13"/>
    <p:sldId id="302" r:id="rId14"/>
    <p:sldId id="306" r:id="rId15"/>
    <p:sldId id="303" r:id="rId1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57B9E-6D96-426E-30E4-83D37748BC4C}" v="118" dt="2025-06-18T16:49:57.979"/>
    <p1510:client id="{14B78A2E-1D60-FE0A-C11B-94CA0222EC99}" v="581" dt="2025-06-19T14:21:49.735"/>
    <p1510:client id="{7084A94D-5618-3EAD-37F6-249F847A5EA8}" v="3" dt="2025-06-20T07:23:33.864"/>
    <p1510:client id="{B946B9A6-552A-5FB7-65BC-A8D2F9DDAF68}" v="24" dt="2025-06-19T15:16:26.907"/>
    <p1510:client id="{E6E81496-E7A6-0655-7880-A2164AA37F71}" v="13" dt="2025-06-18T17:09:01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911490-8182-49AD-9178-1A4AEB385805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3057287-0821-40FF-A20B-DA3CD741CFD5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Klucze</a:t>
          </a:r>
          <a:endParaRPr lang="en-US"/>
        </a:p>
      </dgm:t>
    </dgm:pt>
    <dgm:pt modelId="{2CAD50D2-06BC-4621-95C9-CF444A2B5B1A}" type="parTrans" cxnId="{3337C2B1-C552-4424-BEAA-BAABA0893438}">
      <dgm:prSet/>
      <dgm:spPr/>
      <dgm:t>
        <a:bodyPr/>
        <a:lstStyle/>
        <a:p>
          <a:endParaRPr lang="en-US"/>
        </a:p>
      </dgm:t>
    </dgm:pt>
    <dgm:pt modelId="{8ED8A146-6D5E-45B5-8355-A2240B8F4379}" type="sibTrans" cxnId="{3337C2B1-C552-4424-BEAA-BAABA0893438}">
      <dgm:prSet/>
      <dgm:spPr/>
      <dgm:t>
        <a:bodyPr/>
        <a:lstStyle/>
        <a:p>
          <a:endParaRPr lang="en-US"/>
        </a:p>
      </dgm:t>
    </dgm:pt>
    <dgm:pt modelId="{6D767865-32A5-46C9-8234-EEE68DA00D0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Dystrybucja kluczy</a:t>
          </a:r>
          <a:endParaRPr lang="en-US"/>
        </a:p>
      </dgm:t>
    </dgm:pt>
    <dgm:pt modelId="{CAEBCE01-8BB4-44E5-A37C-934F7808E791}" type="parTrans" cxnId="{19EFCBC0-1A04-4035-8437-9AE37EA07349}">
      <dgm:prSet/>
      <dgm:spPr/>
      <dgm:t>
        <a:bodyPr/>
        <a:lstStyle/>
        <a:p>
          <a:endParaRPr lang="en-US"/>
        </a:p>
      </dgm:t>
    </dgm:pt>
    <dgm:pt modelId="{56B766B2-27E7-49E2-9578-193923981F4A}" type="sibTrans" cxnId="{19EFCBC0-1A04-4035-8437-9AE37EA07349}">
      <dgm:prSet/>
      <dgm:spPr/>
      <dgm:t>
        <a:bodyPr/>
        <a:lstStyle/>
        <a:p>
          <a:endParaRPr lang="en-US"/>
        </a:p>
      </dgm:t>
    </dgm:pt>
    <dgm:pt modelId="{4A3361F4-B6B5-4D63-9A90-481C6A36D80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Bezpieczeństwo klucza</a:t>
          </a:r>
          <a:endParaRPr lang="en-US"/>
        </a:p>
      </dgm:t>
    </dgm:pt>
    <dgm:pt modelId="{B9898304-6C16-48B5-8112-96973A1D1FE7}" type="parTrans" cxnId="{CBD98F46-038D-4557-82FF-4088EED1200C}">
      <dgm:prSet/>
      <dgm:spPr/>
      <dgm:t>
        <a:bodyPr/>
        <a:lstStyle/>
        <a:p>
          <a:endParaRPr lang="en-US"/>
        </a:p>
      </dgm:t>
    </dgm:pt>
    <dgm:pt modelId="{5237FC90-3D92-44AD-A73F-92992C4084D2}" type="sibTrans" cxnId="{CBD98F46-038D-4557-82FF-4088EED1200C}">
      <dgm:prSet/>
      <dgm:spPr/>
      <dgm:t>
        <a:bodyPr/>
        <a:lstStyle/>
        <a:p>
          <a:endParaRPr lang="en-US"/>
        </a:p>
      </dgm:t>
    </dgm:pt>
    <dgm:pt modelId="{BB44709C-8C86-400E-B291-C2ED038524AF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Prędkość</a:t>
          </a:r>
          <a:endParaRPr lang="en-US"/>
        </a:p>
      </dgm:t>
    </dgm:pt>
    <dgm:pt modelId="{4D01E785-F6CF-450E-9441-80B0DB291DF9}" type="parTrans" cxnId="{911769D8-27BE-4D8D-8C54-460FBF2F5598}">
      <dgm:prSet/>
      <dgm:spPr/>
      <dgm:t>
        <a:bodyPr/>
        <a:lstStyle/>
        <a:p>
          <a:endParaRPr lang="en-US"/>
        </a:p>
      </dgm:t>
    </dgm:pt>
    <dgm:pt modelId="{9AE2A991-7595-4537-9198-414BBF5B4D39}" type="sibTrans" cxnId="{911769D8-27BE-4D8D-8C54-460FBF2F5598}">
      <dgm:prSet/>
      <dgm:spPr/>
      <dgm:t>
        <a:bodyPr/>
        <a:lstStyle/>
        <a:p>
          <a:endParaRPr lang="en-US"/>
        </a:p>
      </dgm:t>
    </dgm:pt>
    <dgm:pt modelId="{114B28F6-9943-4698-B2F2-DEA7893EC788}" type="pres">
      <dgm:prSet presAssocID="{2F911490-8182-49AD-9178-1A4AEB385805}" presName="root" presStyleCnt="0">
        <dgm:presLayoutVars>
          <dgm:dir/>
          <dgm:resizeHandles val="exact"/>
        </dgm:presLayoutVars>
      </dgm:prSet>
      <dgm:spPr/>
    </dgm:pt>
    <dgm:pt modelId="{96684A99-0E86-433F-B63F-0DE2E2B557B7}" type="pres">
      <dgm:prSet presAssocID="{33057287-0821-40FF-A20B-DA3CD741CFD5}" presName="compNode" presStyleCnt="0"/>
      <dgm:spPr/>
    </dgm:pt>
    <dgm:pt modelId="{98124567-F3A4-4316-A0DF-6726000788AE}" type="pres">
      <dgm:prSet presAssocID="{33057287-0821-40FF-A20B-DA3CD741CF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lawisz"/>
        </a:ext>
      </dgm:extLst>
    </dgm:pt>
    <dgm:pt modelId="{D528DF76-8BD1-4ACE-8775-088D53D0945C}" type="pres">
      <dgm:prSet presAssocID="{33057287-0821-40FF-A20B-DA3CD741CFD5}" presName="spaceRect" presStyleCnt="0"/>
      <dgm:spPr/>
    </dgm:pt>
    <dgm:pt modelId="{75C22BE5-5D7B-4299-B0A0-B7DC97C3995C}" type="pres">
      <dgm:prSet presAssocID="{33057287-0821-40FF-A20B-DA3CD741CFD5}" presName="textRect" presStyleLbl="revTx" presStyleIdx="0" presStyleCnt="4">
        <dgm:presLayoutVars>
          <dgm:chMax val="1"/>
          <dgm:chPref val="1"/>
        </dgm:presLayoutVars>
      </dgm:prSet>
      <dgm:spPr/>
    </dgm:pt>
    <dgm:pt modelId="{279D23E0-C34C-4016-8AE8-2F5E931B18D9}" type="pres">
      <dgm:prSet presAssocID="{8ED8A146-6D5E-45B5-8355-A2240B8F4379}" presName="sibTrans" presStyleCnt="0"/>
      <dgm:spPr/>
    </dgm:pt>
    <dgm:pt modelId="{F16204CA-E683-4923-885F-EB6AF82B5D9A}" type="pres">
      <dgm:prSet presAssocID="{6D767865-32A5-46C9-8234-EEE68DA00D04}" presName="compNode" presStyleCnt="0"/>
      <dgm:spPr/>
    </dgm:pt>
    <dgm:pt modelId="{59C07962-104F-47B8-AEAE-D230F47BE1FC}" type="pres">
      <dgm:prSet presAssocID="{6D767865-32A5-46C9-8234-EEE68DA00D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ężarówka"/>
        </a:ext>
      </dgm:extLst>
    </dgm:pt>
    <dgm:pt modelId="{7C6167D0-D3CC-4871-8731-5DAA0DD0A56E}" type="pres">
      <dgm:prSet presAssocID="{6D767865-32A5-46C9-8234-EEE68DA00D04}" presName="spaceRect" presStyleCnt="0"/>
      <dgm:spPr/>
    </dgm:pt>
    <dgm:pt modelId="{3FAEB6CC-DFA5-4AEA-AD3A-6CE8DD598910}" type="pres">
      <dgm:prSet presAssocID="{6D767865-32A5-46C9-8234-EEE68DA00D04}" presName="textRect" presStyleLbl="revTx" presStyleIdx="1" presStyleCnt="4">
        <dgm:presLayoutVars>
          <dgm:chMax val="1"/>
          <dgm:chPref val="1"/>
        </dgm:presLayoutVars>
      </dgm:prSet>
      <dgm:spPr/>
    </dgm:pt>
    <dgm:pt modelId="{17D57EED-FC01-4ABB-B929-534E70FBE6DE}" type="pres">
      <dgm:prSet presAssocID="{56B766B2-27E7-49E2-9578-193923981F4A}" presName="sibTrans" presStyleCnt="0"/>
      <dgm:spPr/>
    </dgm:pt>
    <dgm:pt modelId="{7B943AB1-0EDB-46E4-974C-ABE9585E5C8C}" type="pres">
      <dgm:prSet presAssocID="{4A3361F4-B6B5-4D63-9A90-481C6A36D802}" presName="compNode" presStyleCnt="0"/>
      <dgm:spPr/>
    </dgm:pt>
    <dgm:pt modelId="{ED256362-B785-4481-BDBA-876A32479E44}" type="pres">
      <dgm:prSet presAssocID="{4A3361F4-B6B5-4D63-9A90-481C6A36D8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amek"/>
        </a:ext>
      </dgm:extLst>
    </dgm:pt>
    <dgm:pt modelId="{125E36BA-41D5-46A0-83F3-DBE657FD38A3}" type="pres">
      <dgm:prSet presAssocID="{4A3361F4-B6B5-4D63-9A90-481C6A36D802}" presName="spaceRect" presStyleCnt="0"/>
      <dgm:spPr/>
    </dgm:pt>
    <dgm:pt modelId="{30B64BEE-757A-49BD-9077-9D456CBC4489}" type="pres">
      <dgm:prSet presAssocID="{4A3361F4-B6B5-4D63-9A90-481C6A36D802}" presName="textRect" presStyleLbl="revTx" presStyleIdx="2" presStyleCnt="4">
        <dgm:presLayoutVars>
          <dgm:chMax val="1"/>
          <dgm:chPref val="1"/>
        </dgm:presLayoutVars>
      </dgm:prSet>
      <dgm:spPr/>
    </dgm:pt>
    <dgm:pt modelId="{AAF31BD3-825E-430F-99F1-9E7A01AD83EB}" type="pres">
      <dgm:prSet presAssocID="{5237FC90-3D92-44AD-A73F-92992C4084D2}" presName="sibTrans" presStyleCnt="0"/>
      <dgm:spPr/>
    </dgm:pt>
    <dgm:pt modelId="{A0364931-C2C1-4D72-B08E-0381C5DB6B10}" type="pres">
      <dgm:prSet presAssocID="{BB44709C-8C86-400E-B291-C2ED038524AF}" presName="compNode" presStyleCnt="0"/>
      <dgm:spPr/>
    </dgm:pt>
    <dgm:pt modelId="{D2E8E743-AEA9-42D7-B98C-219CA845E6ED}" type="pres">
      <dgm:prSet presAssocID="{BB44709C-8C86-400E-B291-C2ED038524A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er"/>
        </a:ext>
      </dgm:extLst>
    </dgm:pt>
    <dgm:pt modelId="{4E021C41-A232-4E2F-9B78-AE0AE9533A9D}" type="pres">
      <dgm:prSet presAssocID="{BB44709C-8C86-400E-B291-C2ED038524AF}" presName="spaceRect" presStyleCnt="0"/>
      <dgm:spPr/>
    </dgm:pt>
    <dgm:pt modelId="{837E18E2-6BD1-4CE1-B886-3B28E926D207}" type="pres">
      <dgm:prSet presAssocID="{BB44709C-8C86-400E-B291-C2ED038524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75F917-24EC-4CF1-B26F-3F8F7CFBC4EF}" type="presOf" srcId="{4A3361F4-B6B5-4D63-9A90-481C6A36D802}" destId="{30B64BEE-757A-49BD-9077-9D456CBC4489}" srcOrd="0" destOrd="0" presId="urn:microsoft.com/office/officeart/2018/2/layout/IconLabelList"/>
    <dgm:cxn modelId="{AF22D721-F7C7-41B7-AE1F-A9088C111C00}" type="presOf" srcId="{33057287-0821-40FF-A20B-DA3CD741CFD5}" destId="{75C22BE5-5D7B-4299-B0A0-B7DC97C3995C}" srcOrd="0" destOrd="0" presId="urn:microsoft.com/office/officeart/2018/2/layout/IconLabelList"/>
    <dgm:cxn modelId="{B1DB9C5F-46BE-4A66-BFEE-CEC17167C137}" type="presOf" srcId="{BB44709C-8C86-400E-B291-C2ED038524AF}" destId="{837E18E2-6BD1-4CE1-B886-3B28E926D207}" srcOrd="0" destOrd="0" presId="urn:microsoft.com/office/officeart/2018/2/layout/IconLabelList"/>
    <dgm:cxn modelId="{CBD98F46-038D-4557-82FF-4088EED1200C}" srcId="{2F911490-8182-49AD-9178-1A4AEB385805}" destId="{4A3361F4-B6B5-4D63-9A90-481C6A36D802}" srcOrd="2" destOrd="0" parTransId="{B9898304-6C16-48B5-8112-96973A1D1FE7}" sibTransId="{5237FC90-3D92-44AD-A73F-92992C4084D2}"/>
    <dgm:cxn modelId="{3337C2B1-C552-4424-BEAA-BAABA0893438}" srcId="{2F911490-8182-49AD-9178-1A4AEB385805}" destId="{33057287-0821-40FF-A20B-DA3CD741CFD5}" srcOrd="0" destOrd="0" parTransId="{2CAD50D2-06BC-4621-95C9-CF444A2B5B1A}" sibTransId="{8ED8A146-6D5E-45B5-8355-A2240B8F4379}"/>
    <dgm:cxn modelId="{19EFCBC0-1A04-4035-8437-9AE37EA07349}" srcId="{2F911490-8182-49AD-9178-1A4AEB385805}" destId="{6D767865-32A5-46C9-8234-EEE68DA00D04}" srcOrd="1" destOrd="0" parTransId="{CAEBCE01-8BB4-44E5-A37C-934F7808E791}" sibTransId="{56B766B2-27E7-49E2-9578-193923981F4A}"/>
    <dgm:cxn modelId="{911769D8-27BE-4D8D-8C54-460FBF2F5598}" srcId="{2F911490-8182-49AD-9178-1A4AEB385805}" destId="{BB44709C-8C86-400E-B291-C2ED038524AF}" srcOrd="3" destOrd="0" parTransId="{4D01E785-F6CF-450E-9441-80B0DB291DF9}" sibTransId="{9AE2A991-7595-4537-9198-414BBF5B4D39}"/>
    <dgm:cxn modelId="{DC1A6EDC-28A4-4B0C-81BA-4F788397D70D}" type="presOf" srcId="{2F911490-8182-49AD-9178-1A4AEB385805}" destId="{114B28F6-9943-4698-B2F2-DEA7893EC788}" srcOrd="0" destOrd="0" presId="urn:microsoft.com/office/officeart/2018/2/layout/IconLabelList"/>
    <dgm:cxn modelId="{E5EFAEF9-58B9-4857-8502-278506CE29CE}" type="presOf" srcId="{6D767865-32A5-46C9-8234-EEE68DA00D04}" destId="{3FAEB6CC-DFA5-4AEA-AD3A-6CE8DD598910}" srcOrd="0" destOrd="0" presId="urn:microsoft.com/office/officeart/2018/2/layout/IconLabelList"/>
    <dgm:cxn modelId="{73FCFCF1-EE74-4D96-A373-27AD3DD8ABD6}" type="presParOf" srcId="{114B28F6-9943-4698-B2F2-DEA7893EC788}" destId="{96684A99-0E86-433F-B63F-0DE2E2B557B7}" srcOrd="0" destOrd="0" presId="urn:microsoft.com/office/officeart/2018/2/layout/IconLabelList"/>
    <dgm:cxn modelId="{FD045D1D-9A17-403C-8C8F-46EAA803DA77}" type="presParOf" srcId="{96684A99-0E86-433F-B63F-0DE2E2B557B7}" destId="{98124567-F3A4-4316-A0DF-6726000788AE}" srcOrd="0" destOrd="0" presId="urn:microsoft.com/office/officeart/2018/2/layout/IconLabelList"/>
    <dgm:cxn modelId="{5A18C6B2-F3C0-405A-9E7D-3CD66AECDA91}" type="presParOf" srcId="{96684A99-0E86-433F-B63F-0DE2E2B557B7}" destId="{D528DF76-8BD1-4ACE-8775-088D53D0945C}" srcOrd="1" destOrd="0" presId="urn:microsoft.com/office/officeart/2018/2/layout/IconLabelList"/>
    <dgm:cxn modelId="{3AF8CE9B-A092-40CE-B963-5C634EDEE1C1}" type="presParOf" srcId="{96684A99-0E86-433F-B63F-0DE2E2B557B7}" destId="{75C22BE5-5D7B-4299-B0A0-B7DC97C3995C}" srcOrd="2" destOrd="0" presId="urn:microsoft.com/office/officeart/2018/2/layout/IconLabelList"/>
    <dgm:cxn modelId="{207726CE-CFAC-4804-9873-8709A899B995}" type="presParOf" srcId="{114B28F6-9943-4698-B2F2-DEA7893EC788}" destId="{279D23E0-C34C-4016-8AE8-2F5E931B18D9}" srcOrd="1" destOrd="0" presId="urn:microsoft.com/office/officeart/2018/2/layout/IconLabelList"/>
    <dgm:cxn modelId="{7E019D8D-F054-417F-85F5-C7FBBE8F6720}" type="presParOf" srcId="{114B28F6-9943-4698-B2F2-DEA7893EC788}" destId="{F16204CA-E683-4923-885F-EB6AF82B5D9A}" srcOrd="2" destOrd="0" presId="urn:microsoft.com/office/officeart/2018/2/layout/IconLabelList"/>
    <dgm:cxn modelId="{10A4D908-97EC-440E-A3C5-391EDB0501CA}" type="presParOf" srcId="{F16204CA-E683-4923-885F-EB6AF82B5D9A}" destId="{59C07962-104F-47B8-AEAE-D230F47BE1FC}" srcOrd="0" destOrd="0" presId="urn:microsoft.com/office/officeart/2018/2/layout/IconLabelList"/>
    <dgm:cxn modelId="{3B1452AC-723A-4887-B670-959B47C50B2F}" type="presParOf" srcId="{F16204CA-E683-4923-885F-EB6AF82B5D9A}" destId="{7C6167D0-D3CC-4871-8731-5DAA0DD0A56E}" srcOrd="1" destOrd="0" presId="urn:microsoft.com/office/officeart/2018/2/layout/IconLabelList"/>
    <dgm:cxn modelId="{2C2EE14B-EB46-4B01-A8F1-68D8C66BAB19}" type="presParOf" srcId="{F16204CA-E683-4923-885F-EB6AF82B5D9A}" destId="{3FAEB6CC-DFA5-4AEA-AD3A-6CE8DD598910}" srcOrd="2" destOrd="0" presId="urn:microsoft.com/office/officeart/2018/2/layout/IconLabelList"/>
    <dgm:cxn modelId="{1D91BE2F-841C-411B-9F5A-37993C833CF7}" type="presParOf" srcId="{114B28F6-9943-4698-B2F2-DEA7893EC788}" destId="{17D57EED-FC01-4ABB-B929-534E70FBE6DE}" srcOrd="3" destOrd="0" presId="urn:microsoft.com/office/officeart/2018/2/layout/IconLabelList"/>
    <dgm:cxn modelId="{B063DE98-116D-495A-8312-1E758147203A}" type="presParOf" srcId="{114B28F6-9943-4698-B2F2-DEA7893EC788}" destId="{7B943AB1-0EDB-46E4-974C-ABE9585E5C8C}" srcOrd="4" destOrd="0" presId="urn:microsoft.com/office/officeart/2018/2/layout/IconLabelList"/>
    <dgm:cxn modelId="{94F1BEE0-D151-47A9-BDD5-4DA89F672E0C}" type="presParOf" srcId="{7B943AB1-0EDB-46E4-974C-ABE9585E5C8C}" destId="{ED256362-B785-4481-BDBA-876A32479E44}" srcOrd="0" destOrd="0" presId="urn:microsoft.com/office/officeart/2018/2/layout/IconLabelList"/>
    <dgm:cxn modelId="{CD2B865D-9F67-40B0-8377-1AF9CA8F8595}" type="presParOf" srcId="{7B943AB1-0EDB-46E4-974C-ABE9585E5C8C}" destId="{125E36BA-41D5-46A0-83F3-DBE657FD38A3}" srcOrd="1" destOrd="0" presId="urn:microsoft.com/office/officeart/2018/2/layout/IconLabelList"/>
    <dgm:cxn modelId="{6B36349F-1909-4B20-A83F-7D90A99D1139}" type="presParOf" srcId="{7B943AB1-0EDB-46E4-974C-ABE9585E5C8C}" destId="{30B64BEE-757A-49BD-9077-9D456CBC4489}" srcOrd="2" destOrd="0" presId="urn:microsoft.com/office/officeart/2018/2/layout/IconLabelList"/>
    <dgm:cxn modelId="{E6824728-037D-4F99-BA2C-6FE97333A994}" type="presParOf" srcId="{114B28F6-9943-4698-B2F2-DEA7893EC788}" destId="{AAF31BD3-825E-430F-99F1-9E7A01AD83EB}" srcOrd="5" destOrd="0" presId="urn:microsoft.com/office/officeart/2018/2/layout/IconLabelList"/>
    <dgm:cxn modelId="{D4394829-1AFE-4B97-8B93-6A7A206DCA7A}" type="presParOf" srcId="{114B28F6-9943-4698-B2F2-DEA7893EC788}" destId="{A0364931-C2C1-4D72-B08E-0381C5DB6B10}" srcOrd="6" destOrd="0" presId="urn:microsoft.com/office/officeart/2018/2/layout/IconLabelList"/>
    <dgm:cxn modelId="{F815ED2C-1272-4462-B57A-9C0BFC572462}" type="presParOf" srcId="{A0364931-C2C1-4D72-B08E-0381C5DB6B10}" destId="{D2E8E743-AEA9-42D7-B98C-219CA845E6ED}" srcOrd="0" destOrd="0" presId="urn:microsoft.com/office/officeart/2018/2/layout/IconLabelList"/>
    <dgm:cxn modelId="{553AA393-FB74-47D8-B7E5-93471826CE64}" type="presParOf" srcId="{A0364931-C2C1-4D72-B08E-0381C5DB6B10}" destId="{4E021C41-A232-4E2F-9B78-AE0AE9533A9D}" srcOrd="1" destOrd="0" presId="urn:microsoft.com/office/officeart/2018/2/layout/IconLabelList"/>
    <dgm:cxn modelId="{049FA077-7C16-4894-972C-BA522C0DA162}" type="presParOf" srcId="{A0364931-C2C1-4D72-B08E-0381C5DB6B10}" destId="{837E18E2-6BD1-4CE1-B886-3B28E926D2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24567-F3A4-4316-A0DF-6726000788AE}">
      <dsp:nvSpPr>
        <dsp:cNvPr id="0" name=""/>
        <dsp:cNvSpPr/>
      </dsp:nvSpPr>
      <dsp:spPr>
        <a:xfrm>
          <a:off x="1060049" y="1062500"/>
          <a:ext cx="930028" cy="930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22BE5-5D7B-4299-B0A0-B7DC97C3995C}">
      <dsp:nvSpPr>
        <dsp:cNvPr id="0" name=""/>
        <dsp:cNvSpPr/>
      </dsp:nvSpPr>
      <dsp:spPr>
        <a:xfrm>
          <a:off x="491699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Klucze</a:t>
          </a:r>
          <a:endParaRPr lang="en-US" sz="2100" kern="1200"/>
        </a:p>
      </dsp:txBody>
      <dsp:txXfrm>
        <a:off x="491699" y="2283930"/>
        <a:ext cx="2066729" cy="720000"/>
      </dsp:txXfrm>
    </dsp:sp>
    <dsp:sp modelId="{59C07962-104F-47B8-AEAE-D230F47BE1FC}">
      <dsp:nvSpPr>
        <dsp:cNvPr id="0" name=""/>
        <dsp:cNvSpPr/>
      </dsp:nvSpPr>
      <dsp:spPr>
        <a:xfrm>
          <a:off x="3488457" y="1062500"/>
          <a:ext cx="930028" cy="930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EB6CC-DFA5-4AEA-AD3A-6CE8DD598910}">
      <dsp:nvSpPr>
        <dsp:cNvPr id="0" name=""/>
        <dsp:cNvSpPr/>
      </dsp:nvSpPr>
      <dsp:spPr>
        <a:xfrm>
          <a:off x="2920106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Dystrybucja kluczy</a:t>
          </a:r>
          <a:endParaRPr lang="en-US" sz="2100" kern="1200"/>
        </a:p>
      </dsp:txBody>
      <dsp:txXfrm>
        <a:off x="2920106" y="2283930"/>
        <a:ext cx="2066729" cy="720000"/>
      </dsp:txXfrm>
    </dsp:sp>
    <dsp:sp modelId="{ED256362-B785-4481-BDBA-876A32479E44}">
      <dsp:nvSpPr>
        <dsp:cNvPr id="0" name=""/>
        <dsp:cNvSpPr/>
      </dsp:nvSpPr>
      <dsp:spPr>
        <a:xfrm>
          <a:off x="5916864" y="1062500"/>
          <a:ext cx="930028" cy="9300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64BEE-757A-49BD-9077-9D456CBC4489}">
      <dsp:nvSpPr>
        <dsp:cNvPr id="0" name=""/>
        <dsp:cNvSpPr/>
      </dsp:nvSpPr>
      <dsp:spPr>
        <a:xfrm>
          <a:off x="5348513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Bezpieczeństwo klucza</a:t>
          </a:r>
          <a:endParaRPr lang="en-US" sz="2100" kern="1200"/>
        </a:p>
      </dsp:txBody>
      <dsp:txXfrm>
        <a:off x="5348513" y="2283930"/>
        <a:ext cx="2066729" cy="720000"/>
      </dsp:txXfrm>
    </dsp:sp>
    <dsp:sp modelId="{D2E8E743-AEA9-42D7-B98C-219CA845E6ED}">
      <dsp:nvSpPr>
        <dsp:cNvPr id="0" name=""/>
        <dsp:cNvSpPr/>
      </dsp:nvSpPr>
      <dsp:spPr>
        <a:xfrm>
          <a:off x="8345271" y="1062500"/>
          <a:ext cx="930028" cy="9300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E18E2-6BD1-4CE1-B886-3B28E926D207}">
      <dsp:nvSpPr>
        <dsp:cNvPr id="0" name=""/>
        <dsp:cNvSpPr/>
      </dsp:nvSpPr>
      <dsp:spPr>
        <a:xfrm>
          <a:off x="7776921" y="2283930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Prędkość</a:t>
          </a:r>
          <a:endParaRPr lang="en-US" sz="2100" kern="1200"/>
        </a:p>
      </dsp:txBody>
      <dsp:txXfrm>
        <a:off x="7776921" y="2283930"/>
        <a:ext cx="206672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2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3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3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56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5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8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4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8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4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9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1B8E19-7D88-BAC5-CB04-1D77174A0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635162" y="1289951"/>
            <a:ext cx="5397450" cy="172561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pl-PL" sz="5400" dirty="0"/>
              <a:t>Kryptografia symetryczna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7613787" y="877080"/>
            <a:ext cx="3319999" cy="2565506"/>
          </a:xfrm>
        </p:spPr>
        <p:txBody>
          <a:bodyPr anchor="ctr">
            <a:normAutofit fontScale="70000" lnSpcReduction="20000"/>
          </a:bodyPr>
          <a:lstStyle/>
          <a:p>
            <a:pPr algn="l"/>
            <a:r>
              <a:rPr lang="pl-PL" sz="3600"/>
              <a:t>Aplikacja szyfrująca i deszyfrująca pliki z wykorzystaniem kryptografii symetrycznej</a:t>
            </a:r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24C391E-B766-DDC0-7BAC-DEFDCF9656B8}"/>
              </a:ext>
            </a:extLst>
          </p:cNvPr>
          <p:cNvSpPr txBox="1"/>
          <p:nvPr/>
        </p:nvSpPr>
        <p:spPr>
          <a:xfrm>
            <a:off x="3273994" y="5838093"/>
            <a:ext cx="59968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>
                <a:ea typeface="+mn-lt"/>
                <a:cs typeface="+mn-lt"/>
              </a:rPr>
              <a:t>https://benjurewicz.github.io/szyfrowanie-symetryczne</a:t>
            </a:r>
            <a:endParaRPr lang="pl-PL" dirty="0"/>
          </a:p>
        </p:txBody>
      </p:sp>
      <p:pic>
        <p:nvPicPr>
          <p:cNvPr id="5" name="Obraz 4" descr="Obraz zawierający wzór, Grafika, piksel, design&#10;&#10;Zawartość wygenerowana przez AI może być niepoprawna.">
            <a:extLst>
              <a:ext uri="{FF2B5EF4-FFF2-40B4-BE49-F238E27FC236}">
                <a16:creationId xmlns:a16="http://schemas.microsoft.com/office/drawing/2014/main" id="{D0C034DC-B023-E331-1278-38354C4F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1" y="3885712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29DE-7229-4451-C643-0DA520FC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l-PL" sz="4800"/>
              <a:t>Czym jest kryptografia </a:t>
            </a:r>
            <a:r>
              <a:rPr lang="pl-PL" sz="4400"/>
              <a:t>symetryczna</a:t>
            </a:r>
            <a:r>
              <a:rPr lang="pl-PL" sz="4800"/>
              <a:t> i na czym polega?</a:t>
            </a:r>
          </a:p>
        </p:txBody>
      </p:sp>
      <p:pic>
        <p:nvPicPr>
          <p:cNvPr id="4" name="Obraz 3" descr="Obraz zawierający szkic, rysowanie, diagram, Grafika liniowa&#10;&#10;Zawartość wygenerowana przez AI może być niepoprawna.">
            <a:extLst>
              <a:ext uri="{FF2B5EF4-FFF2-40B4-BE49-F238E27FC236}">
                <a16:creationId xmlns:a16="http://schemas.microsoft.com/office/drawing/2014/main" id="{C766B060-6A1C-5564-12AB-2726FA05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2" y="2083279"/>
            <a:ext cx="11305276" cy="385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7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B8D47-EB57-3486-3315-D6CF54EB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C4CF1-FA86-AE87-0FB2-04256B67E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22" y="849085"/>
            <a:ext cx="3602356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Klucz w kryptografii symetrycznej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5BF330C-3D91-4F09-93DD-E6679BF79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394" y="849085"/>
            <a:ext cx="6144768" cy="517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800">
                <a:ea typeface="+mn-lt"/>
                <a:cs typeface="+mn-lt"/>
              </a:rPr>
              <a:t>Jedna tożsamość </a:t>
            </a:r>
            <a:endParaRPr lang="pl-PL" sz="1800">
              <a:latin typeface="Calibri"/>
              <a:ea typeface="Calibri"/>
              <a:cs typeface="Calibri"/>
            </a:endParaRPr>
          </a:p>
          <a:p>
            <a:r>
              <a:rPr lang="pl-PL" sz="1800">
                <a:ea typeface="+mn-lt"/>
                <a:cs typeface="+mn-lt"/>
              </a:rPr>
              <a:t>Tajność </a:t>
            </a:r>
            <a:endParaRPr lang="pl-PL" sz="1800"/>
          </a:p>
          <a:p>
            <a:r>
              <a:rPr lang="pl-PL" sz="1800">
                <a:ea typeface="+mn-lt"/>
                <a:cs typeface="+mn-lt"/>
              </a:rPr>
              <a:t>Współdzielenie </a:t>
            </a:r>
          </a:p>
          <a:p>
            <a:r>
              <a:rPr lang="pl-PL" sz="1800">
                <a:ea typeface="+mn-lt"/>
                <a:cs typeface="+mn-lt"/>
              </a:rPr>
              <a:t>Bezpieczeństwo</a:t>
            </a:r>
          </a:p>
          <a:p>
            <a:r>
              <a:rPr lang="pl-PL" sz="1800" dirty="0">
                <a:ea typeface="+mn-lt"/>
                <a:cs typeface="+mn-lt"/>
              </a:rPr>
              <a:t>Dystrybucja </a:t>
            </a:r>
          </a:p>
          <a:p>
            <a:r>
              <a:rPr lang="pl-PL" sz="1800" dirty="0">
                <a:ea typeface="+mn-lt"/>
                <a:cs typeface="+mn-lt"/>
              </a:rPr>
              <a:t>Unikalność </a:t>
            </a:r>
          </a:p>
          <a:p>
            <a:r>
              <a:rPr lang="pl-PL" sz="1800">
                <a:ea typeface="+mn-lt"/>
                <a:cs typeface="+mn-lt"/>
              </a:rPr>
              <a:t>Długość </a:t>
            </a:r>
          </a:p>
          <a:p>
            <a:r>
              <a:rPr lang="pl-PL" sz="1800">
                <a:ea typeface="+mn-lt"/>
                <a:cs typeface="+mn-lt"/>
              </a:rPr>
              <a:t>Przechowywanie </a:t>
            </a:r>
          </a:p>
        </p:txBody>
      </p:sp>
    </p:spTree>
    <p:extLst>
      <p:ext uri="{BB962C8B-B14F-4D97-AF65-F5344CB8AC3E}">
        <p14:creationId xmlns:p14="http://schemas.microsoft.com/office/powerpoint/2010/main" val="52486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E0F96-D53D-B0AC-F637-C9A5579D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0F54EA-9462-1684-42CC-34DF03FC4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13EC1-ECEE-5A0C-E477-06E8F688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98" y="2395082"/>
            <a:ext cx="4320418" cy="2459634"/>
          </a:xfrm>
        </p:spPr>
        <p:txBody>
          <a:bodyPr anchor="t">
            <a:normAutofit/>
          </a:bodyPr>
          <a:lstStyle/>
          <a:p>
            <a:r>
              <a:rPr lang="pl-PL" sz="4000" dirty="0"/>
              <a:t>Sposoby generowania </a:t>
            </a:r>
            <a:br>
              <a:rPr lang="pl-PL" sz="4000" dirty="0"/>
            </a:br>
            <a:r>
              <a:rPr lang="pl-PL" sz="4000" dirty="0"/>
              <a:t>kluczy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3A0CB-F4F0-2CC4-0170-DE37B8C0B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1387" y="1083148"/>
            <a:ext cx="4339956" cy="469546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pl-PL" sz="2400" dirty="0"/>
              <a:t>Losowe generowanie kluczy</a:t>
            </a:r>
          </a:p>
          <a:p>
            <a:pPr marL="342900" indent="-342900">
              <a:buAutoNum type="arabicPeriod"/>
            </a:pPr>
            <a:r>
              <a:rPr lang="pl-PL" sz="2400" dirty="0"/>
              <a:t>Hasło jako klucz</a:t>
            </a:r>
          </a:p>
          <a:p>
            <a:pPr marL="342900" indent="-342900">
              <a:buAutoNum type="arabicPeriod"/>
            </a:pPr>
            <a:r>
              <a:rPr lang="pl-PL" sz="2400" dirty="0"/>
              <a:t>Salt </a:t>
            </a:r>
          </a:p>
        </p:txBody>
      </p:sp>
    </p:spTree>
    <p:extLst>
      <p:ext uri="{BB962C8B-B14F-4D97-AF65-F5344CB8AC3E}">
        <p14:creationId xmlns:p14="http://schemas.microsoft.com/office/powerpoint/2010/main" val="61911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8D46B-3081-FB45-FBC4-C3596D68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15BE7E-D879-2E51-F5F3-7B4080474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15CC9-2C7F-50BF-9285-16351EA2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3" y="2366327"/>
            <a:ext cx="4320418" cy="2459634"/>
          </a:xfrm>
        </p:spPr>
        <p:txBody>
          <a:bodyPr anchor="t">
            <a:normAutofit/>
          </a:bodyPr>
          <a:lstStyle/>
          <a:p>
            <a:pPr algn="r"/>
            <a:r>
              <a:rPr lang="pl-PL" dirty="0"/>
              <a:t>Rodzaje kryptografii symetrycznej</a:t>
            </a:r>
            <a:endParaRPr lang="pl-PL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7F6A-932C-D520-E9DD-892224704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1387" y="1413827"/>
            <a:ext cx="4339956" cy="436479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>
              <a:buAutoNum type="arabicPeriod"/>
            </a:pPr>
            <a:r>
              <a:rPr lang="pl-PL" sz="1800" dirty="0">
                <a:ea typeface="+mn-lt"/>
                <a:cs typeface="+mn-lt"/>
              </a:rPr>
              <a:t>Szyfry strumieniowe</a:t>
            </a:r>
            <a:endParaRPr lang="en-US" sz="1800" dirty="0">
              <a:ea typeface="+mn-lt"/>
              <a:cs typeface="+mn-lt"/>
            </a:endParaRPr>
          </a:p>
          <a:p>
            <a:pPr marL="685800" lvl="1" indent="-457200">
              <a:buFont typeface="Courier New" panose="020B0604020202020204" pitchFamily="34" charset="0"/>
              <a:buChar char="o"/>
            </a:pPr>
            <a:r>
              <a:rPr lang="pl-PL" sz="1600" dirty="0">
                <a:ea typeface="+mn-lt"/>
                <a:cs typeface="+mn-lt"/>
              </a:rPr>
              <a:t>RC4</a:t>
            </a:r>
          </a:p>
          <a:p>
            <a:pPr marL="685800" lvl="1" indent="-457200">
              <a:buFont typeface="Courier New" panose="020B0604020202020204" pitchFamily="34" charset="0"/>
              <a:buChar char="o"/>
            </a:pPr>
            <a:r>
              <a:rPr lang="pl-PL" sz="1600" dirty="0">
                <a:ea typeface="+mn-lt"/>
                <a:cs typeface="+mn-lt"/>
              </a:rPr>
              <a:t>Salsa20</a:t>
            </a:r>
          </a:p>
          <a:p>
            <a:pPr marL="685800" lvl="1" indent="-457200">
              <a:buFont typeface="Courier New" panose="020B0604020202020204" pitchFamily="34" charset="0"/>
              <a:buChar char="o"/>
            </a:pPr>
            <a:r>
              <a:rPr lang="pl-PL" sz="1600" dirty="0">
                <a:ea typeface="+mn-lt"/>
                <a:cs typeface="+mn-lt"/>
              </a:rPr>
              <a:t>ChaCha20</a:t>
            </a:r>
          </a:p>
          <a:p>
            <a:pPr marL="457200" indent="-457200">
              <a:buAutoNum type="arabicPeriod"/>
            </a:pPr>
            <a:r>
              <a:rPr lang="pl-PL" sz="1800" dirty="0">
                <a:ea typeface="+mn-lt"/>
                <a:cs typeface="+mn-lt"/>
              </a:rPr>
              <a:t>Szyfry blokowe</a:t>
            </a:r>
            <a:endParaRPr lang="en-US" sz="1800" dirty="0">
              <a:ea typeface="+mn-lt"/>
              <a:cs typeface="+mn-lt"/>
            </a:endParaRPr>
          </a:p>
          <a:p>
            <a:pPr marL="685800" lvl="1" indent="-457200">
              <a:buFont typeface="Courier New" panose="020B0604020202020204" pitchFamily="34" charset="0"/>
              <a:buChar char="o"/>
            </a:pPr>
            <a:r>
              <a:rPr lang="pl-PL" sz="1600" dirty="0"/>
              <a:t>AES</a:t>
            </a:r>
          </a:p>
          <a:p>
            <a:pPr marL="685800" lvl="1" indent="-457200">
              <a:buFont typeface="Courier New" panose="020B0604020202020204" pitchFamily="34" charset="0"/>
              <a:buChar char="o"/>
            </a:pPr>
            <a:r>
              <a:rPr lang="pl-PL" sz="1600" dirty="0"/>
              <a:t>DES</a:t>
            </a:r>
          </a:p>
          <a:p>
            <a:pPr marL="685800" lvl="1" indent="-457200">
              <a:buFont typeface="Courier New" panose="020B0604020202020204" pitchFamily="34" charset="0"/>
              <a:buChar char="o"/>
            </a:pPr>
            <a:r>
              <a:rPr lang="pl-PL" sz="1600" dirty="0" err="1"/>
              <a:t>Triple</a:t>
            </a:r>
            <a:r>
              <a:rPr lang="pl-PL" sz="1600" dirty="0"/>
              <a:t> DES</a:t>
            </a:r>
          </a:p>
          <a:p>
            <a:pPr marL="0" indent="0">
              <a:buNone/>
            </a:pP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227769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5FB92-7AB3-0C2F-5600-F791FCC5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231" y="900332"/>
            <a:ext cx="9160475" cy="11322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l-PL" sz="4800"/>
              <a:t>Porównanie z kryptografią </a:t>
            </a:r>
            <a:r>
              <a:rPr lang="pl-PL" sz="4400"/>
              <a:t>asymetryczną</a:t>
            </a:r>
            <a:endParaRPr lang="pl-PL" sz="4400" b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49B3F6A-34E0-F580-A12C-BD20421D4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727646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33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F896F-914B-55B5-A3A1-A3643D23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085E2C-979E-0AF3-1899-B89D5C654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E83BA-7512-6A62-8191-71C61794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3" y="2366327"/>
            <a:ext cx="4320418" cy="2459634"/>
          </a:xfrm>
        </p:spPr>
        <p:txBody>
          <a:bodyPr anchor="t">
            <a:normAutofit/>
          </a:bodyPr>
          <a:lstStyle/>
          <a:p>
            <a:r>
              <a:rPr lang="pl-PL" sz="4000"/>
              <a:t>Zalety i wady </a:t>
            </a:r>
            <a:r>
              <a:rPr lang="pl-PL" sz="4400"/>
              <a:t>kryptografii</a:t>
            </a:r>
            <a:r>
              <a:rPr lang="pl-PL" sz="4000"/>
              <a:t> </a:t>
            </a:r>
            <a:r>
              <a:rPr lang="pl-PL" sz="4400"/>
              <a:t>symetrycznej</a:t>
            </a:r>
            <a:endParaRPr lang="pl-PL" sz="4400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501D9-0536-7C11-D659-7753D33EF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1387" y="1413827"/>
            <a:ext cx="4339956" cy="43647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l-PL" sz="1800" dirty="0">
                <a:ea typeface="+mn-lt"/>
                <a:cs typeface="+mn-lt"/>
              </a:rPr>
              <a:t>Zalety:</a:t>
            </a:r>
            <a:endParaRPr lang="en-US" sz="1800" dirty="0">
              <a:ea typeface="+mn-lt"/>
              <a:cs typeface="+mn-lt"/>
            </a:endParaRPr>
          </a:p>
          <a:p>
            <a:pPr>
              <a:buFont typeface="Calibri,Sans-Serif" panose="020B0604020202020204" pitchFamily="34" charset="0"/>
              <a:buChar char="-"/>
            </a:pPr>
            <a:r>
              <a:rPr lang="pl-PL" sz="1800" dirty="0">
                <a:ea typeface="+mn-lt"/>
                <a:cs typeface="+mn-lt"/>
              </a:rPr>
              <a:t>Szybkość</a:t>
            </a:r>
            <a:endParaRPr lang="en-US" sz="1800" dirty="0">
              <a:ea typeface="+mn-lt"/>
              <a:cs typeface="+mn-lt"/>
            </a:endParaRPr>
          </a:p>
          <a:p>
            <a:pPr>
              <a:buFont typeface="Calibri,Sans-Serif" panose="020B0604020202020204" pitchFamily="34" charset="0"/>
              <a:buChar char="-"/>
            </a:pPr>
            <a:r>
              <a:rPr lang="pl-PL" sz="1800" dirty="0">
                <a:ea typeface="+mn-lt"/>
                <a:cs typeface="+mn-lt"/>
              </a:rPr>
              <a:t>Prostota</a:t>
            </a:r>
            <a:endParaRPr lang="en-US" sz="1800" dirty="0">
              <a:ea typeface="+mn-lt"/>
              <a:cs typeface="+mn-lt"/>
            </a:endParaRPr>
          </a:p>
          <a:p>
            <a:pPr>
              <a:buFont typeface="Calibri,Sans-Serif" panose="020B0604020202020204" pitchFamily="34" charset="0"/>
              <a:buChar char="-"/>
            </a:pPr>
            <a:r>
              <a:rPr lang="pl-PL" sz="1800" dirty="0">
                <a:ea typeface="+mn-lt"/>
                <a:cs typeface="+mn-lt"/>
              </a:rPr>
              <a:t>Mniejsze obciążenie obliczeniowe</a:t>
            </a:r>
            <a:endParaRPr lang="en-US" sz="1800" dirty="0">
              <a:ea typeface="+mn-lt"/>
              <a:cs typeface="+mn-lt"/>
            </a:endParaRPr>
          </a:p>
          <a:p>
            <a:endParaRPr lang="pl-PL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pl-PL" sz="1800" dirty="0">
                <a:ea typeface="+mn-lt"/>
                <a:cs typeface="+mn-lt"/>
              </a:rPr>
              <a:t>Wady:</a:t>
            </a:r>
            <a:endParaRPr lang="en-US" sz="1800" dirty="0">
              <a:ea typeface="+mn-lt"/>
              <a:cs typeface="+mn-lt"/>
            </a:endParaRPr>
          </a:p>
          <a:p>
            <a:pPr marL="342900" indent="-342900">
              <a:buFont typeface="Calibri,Sans-Serif" panose="020B0604020202020204" pitchFamily="34" charset="0"/>
              <a:buChar char="-"/>
            </a:pPr>
            <a:r>
              <a:rPr lang="pl-PL" sz="1800" dirty="0">
                <a:ea typeface="+mn-lt"/>
                <a:cs typeface="+mn-lt"/>
              </a:rPr>
              <a:t>Problem dystrybucji kluczy</a:t>
            </a:r>
            <a:endParaRPr lang="en-US" sz="1800" dirty="0">
              <a:ea typeface="+mn-lt"/>
              <a:cs typeface="+mn-lt"/>
            </a:endParaRPr>
          </a:p>
          <a:p>
            <a:pPr marL="342900" indent="-342900">
              <a:buFont typeface="Calibri,Sans-Serif" panose="020B0604020202020204" pitchFamily="34" charset="0"/>
              <a:buChar char="-"/>
            </a:pPr>
            <a:r>
              <a:rPr lang="pl-PL" sz="1800" dirty="0">
                <a:ea typeface="+mn-lt"/>
                <a:cs typeface="+mn-lt"/>
              </a:rPr>
              <a:t>Skalowalność</a:t>
            </a:r>
            <a:endParaRPr lang="en-US" sz="1800" dirty="0">
              <a:ea typeface="+mn-lt"/>
              <a:cs typeface="+mn-lt"/>
            </a:endParaRPr>
          </a:p>
          <a:p>
            <a:pPr marL="342900" indent="-342900">
              <a:buFont typeface="Calibri,Sans-Serif" panose="020B0604020202020204" pitchFamily="34" charset="0"/>
              <a:buChar char="-"/>
            </a:pPr>
            <a:endParaRPr lang="pl-PL" sz="1600"/>
          </a:p>
        </p:txBody>
      </p:sp>
    </p:spTree>
    <p:extLst>
      <p:ext uri="{BB962C8B-B14F-4D97-AF65-F5344CB8AC3E}">
        <p14:creationId xmlns:p14="http://schemas.microsoft.com/office/powerpoint/2010/main" val="313611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2">
            <a:extLst>
              <a:ext uri="{FF2B5EF4-FFF2-40B4-BE49-F238E27FC236}">
                <a16:creationId xmlns:a16="http://schemas.microsoft.com/office/drawing/2014/main" id="{C31B8E19-7D88-BAC5-CB04-1D77174A0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1B091-5C28-AD50-C2AD-76E18D3B8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62" y="1720611"/>
            <a:ext cx="4900034" cy="34494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err="1">
                <a:ea typeface="+mj-lt"/>
                <a:cs typeface="+mj-lt"/>
              </a:rPr>
              <a:t>Tryby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szyfrowania</a:t>
            </a:r>
            <a:r>
              <a:rPr lang="en-US" sz="4000" dirty="0">
                <a:ea typeface="+mj-lt"/>
                <a:cs typeface="+mj-lt"/>
              </a:rPr>
              <a:t> w </a:t>
            </a:r>
            <a:r>
              <a:rPr lang="en-US" sz="4000" err="1">
                <a:solidFill>
                  <a:srgbClr val="000000"/>
                </a:solidFill>
                <a:latin typeface="Neue Haas Grotesk Text Pro"/>
              </a:rPr>
              <a:t>kryptografii</a:t>
            </a:r>
            <a:r>
              <a:rPr lang="en-US" sz="4000" dirty="0"/>
              <a:t> </a:t>
            </a:r>
            <a:r>
              <a:rPr lang="en-US" sz="4000" err="1"/>
              <a:t>symetrycznej</a:t>
            </a:r>
            <a:r>
              <a:rPr lang="en-US" sz="4000" dirty="0"/>
              <a:t> </a:t>
            </a:r>
            <a:endParaRPr lang="pl-PL" dirty="0"/>
          </a:p>
          <a:p>
            <a:pPr algn="r"/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3EA76-8373-E8B6-0801-140E69E7B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787" y="1746541"/>
            <a:ext cx="3319999" cy="3386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/>
              <a:t>ECB (Electronic Codebook) - Elektroniczna Księga Kodowa</a:t>
            </a:r>
          </a:p>
        </p:txBody>
      </p:sp>
    </p:spTree>
    <p:extLst>
      <p:ext uri="{BB962C8B-B14F-4D97-AF65-F5344CB8AC3E}">
        <p14:creationId xmlns:p14="http://schemas.microsoft.com/office/powerpoint/2010/main" val="368379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B1A16-7C9E-1392-AB14-5FED82F8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2">
            <a:extLst>
              <a:ext uri="{FF2B5EF4-FFF2-40B4-BE49-F238E27FC236}">
                <a16:creationId xmlns:a16="http://schemas.microsoft.com/office/drawing/2014/main" id="{03B53443-3581-6439-44DB-CAFACCBA0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94C34-A1E0-8608-11D5-B9A3B826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62" y="1720611"/>
            <a:ext cx="4900034" cy="34494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 err="1"/>
              <a:t>Tryby</a:t>
            </a:r>
            <a:r>
              <a:rPr lang="en-US" sz="4000" dirty="0"/>
              <a:t> </a:t>
            </a:r>
            <a:r>
              <a:rPr lang="en-US" sz="4000" dirty="0" err="1"/>
              <a:t>szyfrowania</a:t>
            </a:r>
            <a:r>
              <a:rPr lang="en-US" sz="4000" dirty="0"/>
              <a:t> w </a:t>
            </a:r>
            <a:r>
              <a:rPr lang="en-US" sz="4000" dirty="0" err="1"/>
              <a:t>kryptografii</a:t>
            </a:r>
            <a:r>
              <a:rPr lang="en-US" sz="4000" dirty="0"/>
              <a:t> </a:t>
            </a:r>
            <a:r>
              <a:rPr lang="en-US" sz="4000" dirty="0" err="1"/>
              <a:t>symetrycznej</a:t>
            </a:r>
            <a:r>
              <a:rPr lang="en-US" sz="4000" dirty="0"/>
              <a:t> </a:t>
            </a:r>
            <a:endParaRPr lang="en-US" sz="4000" b="0" dirty="0"/>
          </a:p>
          <a:p>
            <a:pPr algn="r"/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B11B9-292C-0A76-FF76-86B83982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787" y="1746541"/>
            <a:ext cx="3319999" cy="3386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CBC (Cipher Block Chaining) - </a:t>
            </a:r>
            <a:r>
              <a:rPr lang="en-US" sz="1800" err="1">
                <a:ea typeface="+mn-lt"/>
                <a:cs typeface="+mn-lt"/>
              </a:rPr>
              <a:t>Łączenie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Bloków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Szyfru</a:t>
            </a:r>
            <a:r>
              <a:rPr lang="en-US" sz="1800">
                <a:ea typeface="+mn-lt"/>
                <a:cs typeface="+mn-lt"/>
              </a:rPr>
              <a:t> 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714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792206-5FAB-7294-041A-5CD150DC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2">
            <a:extLst>
              <a:ext uri="{FF2B5EF4-FFF2-40B4-BE49-F238E27FC236}">
                <a16:creationId xmlns:a16="http://schemas.microsoft.com/office/drawing/2014/main" id="{12DBF617-17EE-7415-07BE-F9E2D7592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0131C-3FC0-AD53-F214-972E7625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62" y="1720611"/>
            <a:ext cx="4900034" cy="34494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 err="1"/>
              <a:t>Tryby</a:t>
            </a:r>
            <a:r>
              <a:rPr lang="en-US" sz="4000" dirty="0"/>
              <a:t> </a:t>
            </a:r>
            <a:r>
              <a:rPr lang="en-US" sz="4000" dirty="0" err="1"/>
              <a:t>szyfrowania</a:t>
            </a:r>
            <a:r>
              <a:rPr lang="en-US" sz="4000" dirty="0"/>
              <a:t> w </a:t>
            </a:r>
            <a:r>
              <a:rPr lang="en-US" sz="4000" dirty="0" err="1"/>
              <a:t>kryptografii</a:t>
            </a:r>
            <a:r>
              <a:rPr lang="en-US" sz="4000" dirty="0"/>
              <a:t> </a:t>
            </a:r>
            <a:r>
              <a:rPr lang="en-US" sz="4000" dirty="0" err="1"/>
              <a:t>symetrycznej</a:t>
            </a:r>
            <a:r>
              <a:rPr lang="en-US" sz="4000" dirty="0"/>
              <a:t> </a:t>
            </a:r>
            <a:endParaRPr lang="en-US" sz="4000" b="0" dirty="0"/>
          </a:p>
          <a:p>
            <a:pPr algn="r"/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F2DF6-DD70-9CC9-7CBE-B8FFDEF71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787" y="1746541"/>
            <a:ext cx="3319999" cy="3386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pl-PL"/>
              <a:t>CTR (</a:t>
            </a:r>
            <a:r>
              <a:rPr lang="pl-PL" err="1"/>
              <a:t>Counter</a:t>
            </a:r>
            <a:r>
              <a:rPr lang="pl-PL"/>
              <a:t>) - Tryb Licznika</a:t>
            </a:r>
            <a:endParaRPr lang="en-US"/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3238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E0D83-54C1-0BF0-7CA5-791A587F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C83AF-91A6-FC22-8CB2-BACDA0F9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42" y="482807"/>
            <a:ext cx="10667804" cy="11184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/>
              <a:t>Porównanie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514DB1F-4604-3A7A-8EF3-F112867D6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95306"/>
              </p:ext>
            </p:extLst>
          </p:nvPr>
        </p:nvGraphicFramePr>
        <p:xfrm>
          <a:off x="2012830" y="2070339"/>
          <a:ext cx="8168640" cy="33855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653947991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749803409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262368769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355657457"/>
                    </a:ext>
                  </a:extLst>
                </a:gridCol>
              </a:tblGrid>
              <a:tr h="4496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dirty="0"/>
                        <a:t>Cecha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ECB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602365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r>
                        <a:rPr lang="pl-PL" dirty="0"/>
                        <a:t>Bezpieczeństwo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Niskie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Średnie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Wysokie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301701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r>
                        <a:rPr lang="pl-PL" dirty="0"/>
                        <a:t>Wydajność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Wysoka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Średnia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Wysoka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472455"/>
                  </a:ext>
                </a:extLst>
              </a:tr>
              <a:tr h="756300">
                <a:tc>
                  <a:txBody>
                    <a:bodyPr/>
                    <a:lstStyle/>
                    <a:p>
                      <a:r>
                        <a:rPr lang="pl-PL" dirty="0"/>
                        <a:t>Równoległe szyfrowania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Tak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Tak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11992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r>
                        <a:rPr lang="pl-PL" dirty="0"/>
                        <a:t>Losowość szyfrogramu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Niska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Wysoka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Wysoka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662931"/>
                  </a:ext>
                </a:extLst>
              </a:tr>
              <a:tr h="449691">
                <a:tc>
                  <a:txBody>
                    <a:bodyPr/>
                    <a:lstStyle/>
                    <a:p>
                      <a:r>
                        <a:rPr lang="pl-PL" dirty="0"/>
                        <a:t>Błąd w bloku danych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Wpływa tylko na ten blok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Wpływa na ten i wszystkie kolejne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Wpływa tylko na ten blok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62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9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63F2A-D5FC-76B8-D0B4-34AF770C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BC756-1543-0B27-3F9F-8DB827751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146" y="470344"/>
            <a:ext cx="10226971" cy="149480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err="1"/>
              <a:t>Zastosowania</a:t>
            </a:r>
            <a:r>
              <a:rPr lang="en-US" sz="5400" dirty="0"/>
              <a:t> </a:t>
            </a:r>
            <a:r>
              <a:rPr lang="en-US" sz="5400" err="1"/>
              <a:t>kryptografii</a:t>
            </a:r>
            <a:r>
              <a:rPr lang="en-US" sz="5400" dirty="0"/>
              <a:t> </a:t>
            </a:r>
            <a:r>
              <a:rPr lang="en-US" sz="5400" err="1"/>
              <a:t>symetrycznej</a:t>
            </a:r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A0336BD-A4CC-A8EC-7D5D-C90620813A44}"/>
              </a:ext>
            </a:extLst>
          </p:cNvPr>
          <p:cNvSpPr txBox="1"/>
          <p:nvPr/>
        </p:nvSpPr>
        <p:spPr>
          <a:xfrm>
            <a:off x="-6636" y="5388928"/>
            <a:ext cx="4220307" cy="14711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err="1"/>
              <a:t>Szyfrowanie</a:t>
            </a:r>
            <a:r>
              <a:rPr lang="en-US" sz="3200" dirty="0"/>
              <a:t> </a:t>
            </a:r>
            <a:r>
              <a:rPr lang="en-US" sz="3200" err="1"/>
              <a:t>plików</a:t>
            </a:r>
            <a:r>
              <a:rPr lang="en-US" sz="3200" dirty="0"/>
              <a:t> </a:t>
            </a:r>
            <a:endParaRPr lang="pl-PL" sz="3200" dirty="0"/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dysków</a:t>
            </a:r>
            <a:r>
              <a:rPr lang="en-US" sz="3200" dirty="0"/>
              <a:t> </a:t>
            </a:r>
            <a:endParaRPr lang="pl-PL" sz="3200"/>
          </a:p>
          <a:p>
            <a:pPr algn="l"/>
            <a:endParaRPr lang="pl-PL" sz="3200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173A592-E98E-BC65-28FF-B93460C4F542}"/>
              </a:ext>
            </a:extLst>
          </p:cNvPr>
          <p:cNvSpPr txBox="1"/>
          <p:nvPr/>
        </p:nvSpPr>
        <p:spPr>
          <a:xfrm>
            <a:off x="3990269" y="5388927"/>
            <a:ext cx="4220307" cy="9787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 err="1">
                <a:ea typeface="+mn-lt"/>
                <a:cs typeface="+mn-lt"/>
              </a:rPr>
              <a:t>Ochrona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danych</a:t>
            </a:r>
            <a:r>
              <a:rPr lang="en-US" sz="3200" dirty="0">
                <a:ea typeface="+mn-lt"/>
                <a:cs typeface="+mn-lt"/>
              </a:rPr>
              <a:t> w </a:t>
            </a:r>
            <a:r>
              <a:rPr lang="en-US" sz="3200" dirty="0" err="1">
                <a:ea typeface="+mn-lt"/>
                <a:cs typeface="+mn-lt"/>
              </a:rPr>
              <a:t>bazach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danych</a:t>
            </a:r>
            <a:r>
              <a:rPr lang="en-US" sz="3200" dirty="0">
                <a:ea typeface="+mn-lt"/>
                <a:cs typeface="+mn-lt"/>
              </a:rPr>
              <a:t> 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866CA59-454A-6D5A-B2C8-8FB5F100E94F}"/>
              </a:ext>
            </a:extLst>
          </p:cNvPr>
          <p:cNvSpPr txBox="1"/>
          <p:nvPr/>
        </p:nvSpPr>
        <p:spPr>
          <a:xfrm>
            <a:off x="7972798" y="5388928"/>
            <a:ext cx="4220307" cy="14711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dirty="0" err="1">
                <a:ea typeface="+mn-lt"/>
                <a:cs typeface="+mn-lt"/>
              </a:rPr>
              <a:t>Szyfrowanie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zawartości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multimedialnej</a:t>
            </a:r>
            <a:r>
              <a:rPr lang="en-US" sz="3200" dirty="0">
                <a:ea typeface="+mn-lt"/>
                <a:cs typeface="+mn-lt"/>
              </a:rPr>
              <a:t> </a:t>
            </a:r>
            <a:endParaRPr lang="pl-PL" dirty="0"/>
          </a:p>
        </p:txBody>
      </p:sp>
      <p:pic>
        <p:nvPicPr>
          <p:cNvPr id="7" name="Graphic 5" descr="Dokument">
            <a:extLst>
              <a:ext uri="{FF2B5EF4-FFF2-40B4-BE49-F238E27FC236}">
                <a16:creationId xmlns:a16="http://schemas.microsoft.com/office/drawing/2014/main" id="{435F06EA-DB67-668D-BA7D-C455E728C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980" y="2472227"/>
            <a:ext cx="2918605" cy="2918605"/>
          </a:xfrm>
          <a:prstGeom prst="rect">
            <a:avLst/>
          </a:prstGeom>
        </p:spPr>
      </p:pic>
      <p:pic>
        <p:nvPicPr>
          <p:cNvPr id="9" name="Graphic 5" descr="Baza danych z wypełnieniem pełnym">
            <a:extLst>
              <a:ext uri="{FF2B5EF4-FFF2-40B4-BE49-F238E27FC236}">
                <a16:creationId xmlns:a16="http://schemas.microsoft.com/office/drawing/2014/main" id="{5F12B05D-DD18-97C0-BF37-C51D5F310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3976" y="2220106"/>
            <a:ext cx="3309669" cy="3410310"/>
          </a:xfrm>
          <a:prstGeom prst="rect">
            <a:avLst/>
          </a:prstGeom>
        </p:spPr>
      </p:pic>
      <p:pic>
        <p:nvPicPr>
          <p:cNvPr id="11" name="Graphic 5" descr="Klaps z wypełnieniem pełnym">
            <a:extLst>
              <a:ext uri="{FF2B5EF4-FFF2-40B4-BE49-F238E27FC236}">
                <a16:creationId xmlns:a16="http://schemas.microsoft.com/office/drawing/2014/main" id="{1D3A9AF2-82AC-7466-87C6-72087BCB9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0844" y="2220106"/>
            <a:ext cx="3338424" cy="34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50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00D71-A68C-2F65-BCE1-77D4CFBB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74F8B0-29E7-1C9F-6552-6E30F86A1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81ECC-396F-CFFC-AD4E-11F731C43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392" y="1791147"/>
            <a:ext cx="7202862" cy="19523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/>
              <a:t>Aplikacja</a:t>
            </a:r>
            <a:endParaRPr lang="pl-PL" dirty="0" err="1"/>
          </a:p>
        </p:txBody>
      </p:sp>
    </p:spTree>
    <p:extLst>
      <p:ext uri="{BB962C8B-B14F-4D97-AF65-F5344CB8AC3E}">
        <p14:creationId xmlns:p14="http://schemas.microsoft.com/office/powerpoint/2010/main" val="233575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FDB3-CF2D-9051-D07F-F10AE386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sz="4800" dirty="0"/>
              <a:t>Implementacja aplikacji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51E6-AC08-51ED-257B-EF51EE17B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dirty="0"/>
              <a:t>Wybrany rodzaj kryptografii symetrycznej: </a:t>
            </a:r>
            <a:r>
              <a:rPr lang="pl-PL" b="1" dirty="0"/>
              <a:t>AES-128</a:t>
            </a:r>
          </a:p>
          <a:p>
            <a:pPr marL="0" indent="0">
              <a:buNone/>
            </a:pPr>
            <a:r>
              <a:rPr lang="pl-PL" dirty="0"/>
              <a:t>Wybrany sposób generowania kluczy i wektorów inicjalizujących: </a:t>
            </a:r>
          </a:p>
          <a:p>
            <a:pPr marL="0" indent="0">
              <a:buNone/>
            </a:pPr>
            <a:r>
              <a:rPr lang="pl-PL" dirty="0"/>
              <a:t> - algorytm </a:t>
            </a:r>
            <a:r>
              <a:rPr lang="pl-PL" dirty="0">
                <a:ea typeface="+mn-lt"/>
                <a:cs typeface="+mn-lt"/>
              </a:rPr>
              <a:t>do generowania kluczy i wektorów inicjalizujących </a:t>
            </a:r>
            <a:r>
              <a:rPr lang="pl-PL" dirty="0"/>
              <a:t>– </a:t>
            </a:r>
            <a:r>
              <a:rPr lang="pl-PL" b="1" dirty="0"/>
              <a:t>PBKDF2,</a:t>
            </a:r>
          </a:p>
          <a:p>
            <a:pPr marL="0" indent="0">
              <a:buNone/>
            </a:pPr>
            <a:r>
              <a:rPr lang="pl-PL" b="1" dirty="0"/>
              <a:t> </a:t>
            </a:r>
            <a:r>
              <a:rPr lang="pl-PL" dirty="0"/>
              <a:t>- funkcja </a:t>
            </a:r>
            <a:r>
              <a:rPr lang="pl-PL" dirty="0" err="1"/>
              <a:t>hashująca</a:t>
            </a:r>
            <a:r>
              <a:rPr lang="pl-PL" dirty="0"/>
              <a:t> - </a:t>
            </a:r>
            <a:r>
              <a:rPr lang="pl-PL" b="1" dirty="0"/>
              <a:t>SHA-256,</a:t>
            </a:r>
          </a:p>
          <a:p>
            <a:pPr marL="0" indent="0">
              <a:buNone/>
            </a:pPr>
            <a:r>
              <a:rPr lang="pl-PL" dirty="0"/>
              <a:t> - liczba iteracji – </a:t>
            </a:r>
            <a:r>
              <a:rPr lang="pl-PL" b="1" dirty="0"/>
              <a:t>1000.</a:t>
            </a:r>
          </a:p>
          <a:p>
            <a:pPr marL="0" indent="0">
              <a:buNone/>
            </a:pPr>
            <a:r>
              <a:rPr lang="pl-PL" dirty="0"/>
              <a:t>Wynikiem generowania jest 32-bajtowy klucz, z czego pierwsze 16 bajtów to </a:t>
            </a:r>
            <a:r>
              <a:rPr lang="pl-PL" b="1" dirty="0"/>
              <a:t>klucz szyfrujący</a:t>
            </a:r>
            <a:r>
              <a:rPr lang="pl-PL" dirty="0"/>
              <a:t>, a drugie 16 to </a:t>
            </a:r>
            <a:r>
              <a:rPr lang="pl-PL" b="1" dirty="0"/>
              <a:t>wektor inicjalizujący (IV)</a:t>
            </a:r>
          </a:p>
          <a:p>
            <a:pPr marL="0" indent="0">
              <a:buNone/>
            </a:pPr>
            <a:r>
              <a:rPr lang="pl-PL" dirty="0"/>
              <a:t> </a:t>
            </a:r>
          </a:p>
          <a:p>
            <a:pPr marL="0" indent="0">
              <a:buNone/>
            </a:pPr>
            <a:r>
              <a:rPr lang="pl-PL" dirty="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17860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4D867C6C-C426-3E30-5446-52685E13A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5AECF1-51BE-8AB4-8753-6A577491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31" y="1538242"/>
            <a:ext cx="3710319" cy="1784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000" b="1" kern="1200" err="1">
                <a:latin typeface="+mj-lt"/>
                <a:ea typeface="+mj-ea"/>
                <a:cs typeface="+mj-cs"/>
              </a:rPr>
              <a:t>Aplikacja</a:t>
            </a:r>
            <a:endParaRPr lang="en-US" sz="6000" b="1" kern="120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77E36-A315-ACB9-EFFE-418882E9D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55921" y="1513360"/>
            <a:ext cx="5111438" cy="43062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err="1"/>
              <a:t>Wybrany</a:t>
            </a:r>
            <a:r>
              <a:rPr lang="en-US" sz="1800"/>
              <a:t> </a:t>
            </a:r>
            <a:r>
              <a:rPr lang="en-US" sz="1800" err="1"/>
              <a:t>język</a:t>
            </a:r>
            <a:r>
              <a:rPr lang="en-US" sz="1800"/>
              <a:t> </a:t>
            </a:r>
            <a:r>
              <a:rPr lang="en-US" sz="1800" err="1"/>
              <a:t>programowania</a:t>
            </a:r>
            <a:r>
              <a:rPr lang="en-US" sz="1800"/>
              <a:t>:</a:t>
            </a:r>
            <a:endParaRPr lang="pl-PL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Rust</a:t>
            </a:r>
          </a:p>
          <a:p>
            <a:r>
              <a:rPr lang="en-US" sz="1800"/>
              <a:t>GUI framework: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 err="1"/>
              <a:t>Dioxus</a:t>
            </a:r>
          </a:p>
          <a:p>
            <a:r>
              <a:rPr lang="en-US" sz="1800" err="1"/>
              <a:t>Biblioteki</a:t>
            </a:r>
            <a:r>
              <a:rPr lang="en-US" sz="1800"/>
              <a:t>: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b="1" dirty="0" err="1"/>
              <a:t>aes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b="1" dirty="0" err="1"/>
              <a:t>ecb</a:t>
            </a:r>
            <a:r>
              <a:rPr lang="en-US" sz="1800" b="1" dirty="0"/>
              <a:t>, </a:t>
            </a:r>
            <a:r>
              <a:rPr lang="en-US" sz="1800" b="1" dirty="0" err="1"/>
              <a:t>cbc</a:t>
            </a:r>
            <a:r>
              <a:rPr lang="en-US" sz="1800" b="1" dirty="0"/>
              <a:t>, ctr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b="1" dirty="0"/>
              <a:t>PBKDF2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b="1" dirty="0"/>
              <a:t>sha2</a:t>
            </a:r>
          </a:p>
        </p:txBody>
      </p:sp>
      <p:pic>
        <p:nvPicPr>
          <p:cNvPr id="7" name="Picture Placeholder 6" descr="Obraz zawierający wzór, Grafika, piksel, design&#10;&#10;Zawartość wygenerowana przez AI może być niepoprawna.">
            <a:extLst>
              <a:ext uri="{FF2B5EF4-FFF2-40B4-BE49-F238E27FC236}">
                <a16:creationId xmlns:a16="http://schemas.microsoft.com/office/drawing/2014/main" id="{84E35E71-E338-D2DA-B58D-5FBBF0A1F8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160" b="7160"/>
          <a:stretch/>
        </p:blipFill>
        <p:spPr>
          <a:xfrm>
            <a:off x="872319" y="2689102"/>
            <a:ext cx="4007187" cy="3439238"/>
          </a:xfrm>
        </p:spPr>
      </p:pic>
    </p:spTree>
    <p:extLst>
      <p:ext uri="{BB962C8B-B14F-4D97-AF65-F5344CB8AC3E}">
        <p14:creationId xmlns:p14="http://schemas.microsoft.com/office/powerpoint/2010/main" val="296016773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A486D2-5A3B-4824-96A4-BC8B80A1DB63}">
  <we:reference id="WA200005566" version="3.0.0.3" store="pl-pl" storeType="omex"/>
  <we:alternateReferences>
    <we:reference id="WA200005566" version="3.0.0.3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VanillaVTI</vt:lpstr>
      <vt:lpstr>Kryptografia symetryczna</vt:lpstr>
      <vt:lpstr>Czym jest kryptografia symetryczna i na czym polega?</vt:lpstr>
      <vt:lpstr>Klucz w kryptografii symetrycznej</vt:lpstr>
      <vt:lpstr>Sposoby generowania  kluczy</vt:lpstr>
      <vt:lpstr>Rodzaje kryptografii symetrycznej</vt:lpstr>
      <vt:lpstr>Porównanie z kryptografią asymetryczną</vt:lpstr>
      <vt:lpstr>Zalety i wady kryptografii symetrycznej</vt:lpstr>
      <vt:lpstr>Tryby szyfrowania w kryptografii symetrycznej  </vt:lpstr>
      <vt:lpstr>Tryby szyfrowania w kryptografii symetrycznej  </vt:lpstr>
      <vt:lpstr>Tryby szyfrowania w kryptografii symetrycznej  </vt:lpstr>
      <vt:lpstr>Porównanie</vt:lpstr>
      <vt:lpstr>Zastosowania kryptografii symetrycznej</vt:lpstr>
      <vt:lpstr>Aplikacja</vt:lpstr>
      <vt:lpstr>Implementacja aplikacji</vt:lpstr>
      <vt:lpstr>Aplikacja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531</cp:revision>
  <dcterms:created xsi:type="dcterms:W3CDTF">2025-05-30T17:52:58Z</dcterms:created>
  <dcterms:modified xsi:type="dcterms:W3CDTF">2025-06-20T08:38:24Z</dcterms:modified>
</cp:coreProperties>
</file>